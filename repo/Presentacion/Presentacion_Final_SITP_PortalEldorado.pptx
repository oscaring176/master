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D5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3D5C"/>
                </a:solidFill>
                <a:latin typeface="Calibri"/>
              </a:rPr>
              <a:t>Exactitud vs. línea base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Exactitud (%)</c:v>
                </c:pt>
              </c:strCache>
            </c:strRef>
          </c:tx>
          <c:spPr>
            <a:solidFill>
              <a:srgbClr val="0B3D5C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3D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7A1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Línea base</c:v>
                  </c:pt>
                  <c:pt idx="1">
                    <c:v>Árbol (depth=5)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72.18</c:v>
                </c:pt>
                <c:pt idx="1">
                  <c:v>84.06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E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32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8E0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D5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3D5C"/>
                </a:solidFill>
                <a:latin typeface="Calibri"/>
              </a:rPr>
              <a:t>Silueta por número de grupos (k)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Índice de silueta</c:v>
                </c:pt>
              </c:strCache>
            </c:strRef>
          </c:tx>
          <c:spPr>
            <a:solidFill>
              <a:srgbClr val="1F8A7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8A7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8A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7A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8A7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8A7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k=2</c:v>
                  </c:pt>
                  <c:pt idx="1">
                    <c:v>k=3</c:v>
                  </c:pt>
                  <c:pt idx="2">
                    <c:v>k=4</c:v>
                  </c:pt>
                  <c:pt idx="3">
                    <c:v>k=5</c:v>
                  </c:pt>
                  <c:pt idx="4">
                    <c:v>k=6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0.312</c:v>
                </c:pt>
                <c:pt idx="1">
                  <c:v>0.348</c:v>
                </c:pt>
                <c:pt idx="2">
                  <c:v>0.361</c:v>
                </c:pt>
                <c:pt idx="3">
                  <c:v>0.384</c:v>
                </c:pt>
                <c:pt idx="4">
                  <c:v>0.343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32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5"/>
          <c:min val="0"/>
        </c:scaling>
        <c:delete val="0"/>
        <c:axPos val="l"/>
        <c:majorGridlines>
          <c:spPr>
            <a:ln w="12700" cap="flat">
              <a:solidFill>
                <a:srgbClr val="D8E0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ETL parte de 452 filas crudas y llega a 13.290 filas en formato largo, con 0 duplicados y 2,68% de atípicos marcados (no borrados). El EDA confirma tres hechos: el acceso Túnel PLAT1 concentra 53% del flujo, hay un pico claro a las 07:45, y entre semana se mueve 63% más gente que en fin de semana. Esa concentración es la decisión que el proyecto habilita: dónde y cuándo reforzar personal.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[Cambiar a la ventana de Power BI aquí y mostrar el tablero en vivo: vista de participación por acceso, perfil horario, y comparación semana/fin de semana. Volver a las diapositivas para los modelos.]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árbol de decisión (profundidad 5) compara siempre contra la línea base: 84,06% vs 72,18% de exactitud, una mejora real de casi 12 puntos. Pero la matriz de confusión importa más que el número solo: el modelo detecta 327 de 520 picos reales (62,9% de recall) y deja pasar 193. La variable que más pesa es la hora del día, más que el acceso. Se probó también un árbol sin límite de profundidad (88,71% pero 114 hojas) y se prefirió el interpretable.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K-Means agrupa las 443 combinaciones de acceso y franja según hora, volumen relativo a su propio acceso y sesgo semana/fin de semana. Con k=4 la silueta es 0,361 — moderada, y se declara así en vez de presentarla como una segmentación nítida. Salen 3 grupos accionables con nombre y acción propia (reforzar accesos 03/04/21 en la mañana; mantener personal parejo en la tarde/noche; consolidar turnos en accesos de bajo volumen) y un cuarto grupo de solo 5 combinaciones que se trata como ruido, no como segmento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ambos modelos superan su línea base y son honestos sobre sus límites. La recomendación es adoptarlos ahora como apoyo a la decisión para el próximo ciclo de turnos, con revisión humana, y reevaluar producción plena una vez cumplidas las tres condiciones. Abro 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SEM10 · CIA6041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IA para predicción y segmentación de demanda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SITP / TransMilenio — Portal Eldorado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acceso concentra más de la mitad del flujo de salida de Portal Eldorado, y una franja de la mañana supera claramente al resto. Hoy esa presión se gestiona con criterio general — sin un mecanismo que anticipe cuándo y dónde reforzar personal.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4526280"/>
            <a:ext cx="6858000" cy="777240"/>
          </a:xfrm>
          <a:prstGeom prst="roundRect">
            <a:avLst>
              <a:gd name="adj" fmla="val 8235"/>
            </a:avLst>
          </a:prstGeom>
          <a:solidFill>
            <a:srgbClr val="082A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5262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 operación de Portal Eldorado — planeación de turnos y gestión de accesos.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55280" y="219456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082A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55280" y="25146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8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6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3886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flujo total de salida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concentra en un solo acceso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(Túnel PLAT1)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Fabián Pedraza García · CIA6041 · Proyecto final — SITP/Portal Eldorado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36599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lo resuelve: datos, análisis y la decisión que habilita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09928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452 filas crudas → 443 analizadas · formato ancho a largo (13.290 filas) · 0 duplicados · 2,68 % atípicos marcados, no borrados.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98648"/>
            <a:ext cx="502920" cy="50292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8529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191256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indicadores + 3 gráficos: un acceso concentra 53 % del flujo, pico a las 07:45, y +63 % entre semana vs. fin de semana.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379976"/>
            <a:ext cx="502920" cy="50292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379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33425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que habilita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672584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y cuándo reforzar personal, capacidad y señalización — con evidencia, no solo con criterio general.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1417320"/>
            <a:ext cx="4709160" cy="4160520"/>
          </a:xfrm>
          <a:prstGeom prst="roundRect">
            <a:avLst>
              <a:gd name="adj" fmla="val 2198"/>
            </a:avLst>
          </a:prstGeom>
          <a:solidFill>
            <a:srgbClr val="F7F9FA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6948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fuente de datos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2057400"/>
            <a:ext cx="4114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TRANSMILENIO S.A. / Datos Abiertos Bogotá — licencia CC BY 4.0.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 de 2023 · salidas por acceso e intervalo de 15 min.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 manual declarada (sin acceso directo al portal en este entorno).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crudo nunca se modifica; todo el ETL genera archivos nuevos.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879.772 salidas totales registradas en el mes.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13.290 registros depurados </a:t>
            </a:r>
            <a:pPr indent="0" marL="0">
              <a:buNone/>
            </a:pPr>
            <a:r>
              <a:rPr lang="en-US" sz="1500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permiten decidir, con evidencia, dónde reforzar personal cada franja.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Fabián Pedraza García · CIA6041 · Proyecto final — SITP/Portal Eldorado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Tablero — Demanda Operacional Portal Eldorado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continuación se muestra en vivo en Power BI.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EF3F5"/>
          </a:solidFill>
          <a:ln/>
          <a:effectLst>
            <a:outerShdw sx="100000" sy="100000" kx="0" ky="0" algn="bl" rotWithShape="0" blurRad="76200" dist="25400" dir="5400000">
              <a:srgbClr val="9AA5AC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21284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879.772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200400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 totales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(noviembre 2023)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21031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EF3F5"/>
          </a:solidFill>
          <a:ln/>
          <a:effectLst>
            <a:outerShdw sx="100000" sy="100000" kx="0" ky="0" algn="bl" rotWithShape="0" blurRad="76200" dist="25400" dir="5400000">
              <a:srgbClr val="9AA5AC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20440" y="221284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53 %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93008" y="3200400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del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Túnel PLAT1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EF3F5"/>
          </a:solidFill>
          <a:ln/>
          <a:effectLst>
            <a:outerShdw sx="100000" sy="100000" kx="0" ky="0" algn="bl" rotWithShape="0" blurRad="76200" dist="25400" dir="5400000">
              <a:srgbClr val="9AA5AC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55080" y="221284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07:45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3200400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Franja de mayor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promedio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52560" y="210312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EEF3F5"/>
          </a:solidFill>
          <a:ln/>
          <a:effectLst>
            <a:outerShdw sx="100000" sy="100000" kx="0" ky="0" algn="bl" rotWithShape="0" blurRad="76200" dist="25400" dir="5400000">
              <a:srgbClr val="9AA5AC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89720" y="221284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+63 %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162288" y="3200400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semana vs.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semana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7F9FA"/>
          </a:solidFill>
          <a:ln w="12700">
            <a:solidFill>
              <a:srgbClr val="D8E0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34340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tablero deja ver en vivo: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por acceso, perfil horario completo y comparación semana/fin de semana, con filtros por fecha y acceso para que operación explore antes de decidir turnos.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Fabián Pedraza García · CIA6041 · Proyecto final — SITP/Portal Eldorado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supervisado — ¿será una franja de “alta demanda”?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309360" y="1417320"/>
            <a:ext cx="5349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predice: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franja estará en el 25% de mayor salida dentro de su propio acceso (evita el atajo de aprender solo el acceso).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6309360" y="2651760"/>
            <a:ext cx="5349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tan bien: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84,06% de exactitud (+11,88 pp sobre la línea base); recall de 62,9% en la clase de interés.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3886200"/>
            <a:ext cx="5349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C8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límites: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 de 520 picos reales de la semana de prueba no se detectan; validado en 1 mes de datos; variable más influyente: la hora del día.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+11,88 puntos </a:t>
            </a:r>
            <a:pPr indent="0" marL="0">
              <a:buNone/>
            </a:pPr>
            <a:r>
              <a:rPr lang="en-US" sz="1500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 línea base — pero aún deja pasar 4 de cada 10 picos reales.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Fabián Pedraza García · CIA6041 · Proyecto final — SITP/Portal Eldorado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36599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no supervisado — ¿qué franjas se parecen?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309360" y="1417320"/>
            <a:ext cx="534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agrupa: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 combinaciones acceso×franja en 4 grupos: pico matutino entre semana, meseta de tarde/noche, valle de bajo volumen, y 1 grupo residual (ruido).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6309360" y="2788920"/>
            <a:ext cx="534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tan bien: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silueta de 0,361 con k=4 — estructura moderada, declarada así, no maquillada (k=5 da más silueta pero con grupos casi vacíos).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4023360"/>
            <a:ext cx="5349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C8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límites: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fronteras difusas entre grupos; el grupo residual (5 de 443 combinaciones) nunca se trata como segmento de negocio.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grupos accionables + 1 ruido honesto: </a:t>
            </a:r>
            <a:pPr indent="0" marL="0">
              <a:buNone/>
            </a:pPr>
            <a:r>
              <a:rPr lang="en-US" sz="1500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con una acción operativa distinta.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Fabián Pedraza García · CIA6041 · Proyecto final — SITP/Portal Eldorado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36599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082A4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417320"/>
            <a:ext cx="10424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C8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 picos de demanda pasan sin detectar cada semana: </a:t>
            </a:r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recomendamos usar el árbol como alerta de apoyo para el equipo de turnos de Portal Eldorado, reforzando primero los accesos 03, 04 y 21 en la mañana entre semana.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¿Producción? No en modo autónomo — sí como apoyo a la decisión humana. Condiciones para escalar: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319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2–3 meses más de datos, de temporadas distintas.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el recall de la clase minoritaria (hoy deja pasar 37% de los picos).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manualmente las combinaciones frontera antes de fijar políticas rígidas de segmentación.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5623560"/>
            <a:ext cx="11064240" cy="0"/>
          </a:xfrm>
          <a:prstGeom prst="line">
            <a:avLst/>
          </a:prstGeom>
          <a:noFill/>
          <a:ln w="12700">
            <a:solidFill>
              <a:srgbClr val="1C4A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5806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— preguntas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Fabián Pedraza García · github.com/oscaring176/Master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2026-09-29T20:17:35Z</dcterms:created>
  <dcterms:modified xsi:type="dcterms:W3CDTF">2026-09-29T20:17:35Z</dcterms:modified>
</cp:coreProperties>
</file>